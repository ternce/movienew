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2"/>
          </a:solidFill>
          <a:ln w="12700">
            <a:solidFill>
              <a:srgbClr val="07071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-1005840"/>
            <a:ext cx="4114800" cy="4114800"/>
          </a:xfrm>
          <a:prstGeom prst="ellipse">
            <a:avLst/>
          </a:prstGeom>
          <a:solidFill>
            <a:srgbClr val="1B7D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434840"/>
            <a:ext cx="4023360" cy="4023360"/>
          </a:xfrm>
          <a:prstGeom prst="ellipse">
            <a:avLst/>
          </a:prstGeom>
          <a:solidFill>
            <a:srgbClr val="F40F57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0" y="5989320"/>
            <a:ext cx="4389120" cy="1645920"/>
          </a:xfrm>
          <a:prstGeom prst="ellipse">
            <a:avLst/>
          </a:prstGeom>
          <a:solidFill>
            <a:srgbClr val="B43D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0F57">
              <a:alpha val="60000"/>
            </a:srgbClr>
          </a:solidFill>
          <a:ln w="12700">
            <a:solidFill>
              <a:srgbClr val="F40F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-731520"/>
            <a:ext cx="4937760" cy="4937760"/>
          </a:xfrm>
          <a:prstGeom prst="ellipse">
            <a:avLst/>
          </a:prstGeom>
          <a:solidFill>
            <a:srgbClr val="1B7D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137160"/>
            <a:ext cx="2743200" cy="2743200"/>
          </a:xfrm>
          <a:prstGeom prst="ellipse">
            <a:avLst/>
          </a:prstGeom>
          <a:solidFill>
            <a:srgbClr val="B43DFF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749808"/>
            <a:ext cx="2971800" cy="566928"/>
          </a:xfrm>
          <a:prstGeom prst="roundRect">
            <a:avLst>
              <a:gd name="adj" fmla="val 19355"/>
            </a:avLst>
          </a:prstGeom>
          <a:solidFill>
            <a:srgbClr val="141126">
              <a:alpha val="92000"/>
            </a:srgbClr>
          </a:solidFill>
          <a:ln w="12700">
            <a:solidFill>
              <a:srgbClr val="3A2F60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832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0F57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43584" y="8595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MoviePlatform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9808" y="1810512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Совместный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просмотр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86384" y="3246120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Премиальный просмотр фильмов и сериалов вместе - в одной комнате, с синхронизацией, реакциями, чатом и голосованием.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" y="4069080"/>
            <a:ext cx="2057400" cy="365760"/>
          </a:xfrm>
          <a:prstGeom prst="roundRect">
            <a:avLst>
              <a:gd name="adj" fmla="val 25000"/>
            </a:avLst>
          </a:prstGeom>
          <a:solidFill>
            <a:srgbClr val="F40F57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413308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LIVE WATCH PARTY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2980944" y="4069080"/>
            <a:ext cx="1600200" cy="365760"/>
          </a:xfrm>
          <a:prstGeom prst="roundRect">
            <a:avLst>
              <a:gd name="adj" fmla="val 25000"/>
            </a:avLst>
          </a:prstGeom>
          <a:solidFill>
            <a:srgbClr val="6E39FF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54096" y="4133088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REAL-TIME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446520" y="2084832"/>
            <a:ext cx="4892040" cy="3127248"/>
          </a:xfrm>
          <a:prstGeom prst="roundRect">
            <a:avLst>
              <a:gd name="adj" fmla="val 3801"/>
            </a:avLst>
          </a:prstGeom>
          <a:solidFill>
            <a:srgbClr val="0A0816"/>
          </a:solidFill>
          <a:ln w="12700">
            <a:solidFill>
              <a:srgbClr val="30284B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73952" y="2112264"/>
            <a:ext cx="4837176" cy="329184"/>
          </a:xfrm>
          <a:prstGeom prst="roundRect">
            <a:avLst>
              <a:gd name="adj" fmla="val 25000"/>
            </a:avLst>
          </a:prstGeom>
          <a:solidFill>
            <a:srgbClr val="151124">
              <a:alpha val="95000"/>
            </a:srgbClr>
          </a:solidFill>
          <a:ln w="12700">
            <a:solidFill>
              <a:srgbClr val="15112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47688" y="2212848"/>
            <a:ext cx="73152" cy="73152"/>
          </a:xfrm>
          <a:prstGeom prst="ellipse">
            <a:avLst/>
          </a:prstGeom>
          <a:solidFill>
            <a:srgbClr val="F40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2212848"/>
            <a:ext cx="73152" cy="73152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76872" y="2212848"/>
            <a:ext cx="73152" cy="73152"/>
          </a:xfrm>
          <a:prstGeom prst="ellipse">
            <a:avLst/>
          </a:prstGeom>
          <a:solidFill>
            <a:srgbClr val="38E6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32904" y="2180844"/>
            <a:ext cx="3886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7F789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Главный экран комнаты</a:t>
            </a:r>
            <a:endParaRPr lang="en-US" sz="580" dirty="0"/>
          </a:p>
        </p:txBody>
      </p:sp>
      <p:pic>
        <p:nvPicPr>
          <p:cNvPr id="24" name="Image 0" descr="/mnt/data/screens_extracted/mainc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48" y="2606319"/>
            <a:ext cx="4672584" cy="240431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9808" y="64008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F789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MoviePlatform · Product Presentation · 2026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2"/>
          </a:solidFill>
          <a:ln w="12700">
            <a:solidFill>
              <a:srgbClr val="07071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-1005840"/>
            <a:ext cx="4114800" cy="4114800"/>
          </a:xfrm>
          <a:prstGeom prst="ellipse">
            <a:avLst/>
          </a:prstGeom>
          <a:solidFill>
            <a:srgbClr val="6E39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434840"/>
            <a:ext cx="4023360" cy="4023360"/>
          </a:xfrm>
          <a:prstGeom prst="ellipse">
            <a:avLst/>
          </a:prstGeom>
          <a:solidFill>
            <a:srgbClr val="F40F57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0" y="5989320"/>
            <a:ext cx="4389120" cy="1645920"/>
          </a:xfrm>
          <a:prstGeom prst="ellipse">
            <a:avLst/>
          </a:prstGeom>
          <a:solidFill>
            <a:srgbClr val="B43D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0F57">
              <a:alpha val="60000"/>
            </a:srgbClr>
          </a:solidFill>
          <a:ln w="12700">
            <a:solidFill>
              <a:srgbClr val="F40F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420624"/>
            <a:ext cx="1554480" cy="283464"/>
          </a:xfrm>
          <a:prstGeom prst="roundRect">
            <a:avLst>
              <a:gd name="adj" fmla="val 19355"/>
            </a:avLst>
          </a:prstGeom>
          <a:solidFill>
            <a:srgbClr val="141126">
              <a:alpha val="90000"/>
            </a:srgbClr>
          </a:solidFill>
          <a:ln w="12700">
            <a:solidFill>
              <a:srgbClr val="3A2F60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7548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AD7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ОБЗОР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927080" y="4480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AD7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8686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Один модуль - полный сценарий просмотра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76656" y="1618488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Комната объединяет видео, участников, чат, реакции и выбор следующего контента.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115568"/>
            <a:ext cx="5257800" cy="3246120"/>
          </a:xfrm>
          <a:prstGeom prst="roundRect">
            <a:avLst>
              <a:gd name="adj" fmla="val 3662"/>
            </a:avLst>
          </a:prstGeom>
          <a:solidFill>
            <a:srgbClr val="0A0816"/>
          </a:solidFill>
          <a:ln w="12700">
            <a:solidFill>
              <a:srgbClr val="30284B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91072" y="1143000"/>
            <a:ext cx="5202936" cy="329184"/>
          </a:xfrm>
          <a:prstGeom prst="roundRect">
            <a:avLst>
              <a:gd name="adj" fmla="val 25000"/>
            </a:avLst>
          </a:prstGeom>
          <a:solidFill>
            <a:srgbClr val="151124">
              <a:alpha val="95000"/>
            </a:srgbClr>
          </a:solidFill>
          <a:ln w="12700">
            <a:solidFill>
              <a:srgbClr val="15112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4808" y="1243584"/>
            <a:ext cx="73152" cy="73152"/>
          </a:xfrm>
          <a:prstGeom prst="ellipse">
            <a:avLst/>
          </a:prstGeom>
          <a:solidFill>
            <a:srgbClr val="F40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1243584"/>
            <a:ext cx="73152" cy="73152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93992" y="1243584"/>
            <a:ext cx="73152" cy="73152"/>
          </a:xfrm>
          <a:prstGeom prst="ellipse">
            <a:avLst/>
          </a:prstGeom>
          <a:solidFill>
            <a:srgbClr val="38E6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0024" y="1211580"/>
            <a:ext cx="4251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7F789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Watch Party room</a:t>
            </a:r>
            <a:endParaRPr lang="en-US" sz="580" dirty="0"/>
          </a:p>
        </p:txBody>
      </p:sp>
      <p:pic>
        <p:nvPicPr>
          <p:cNvPr id="18" name="Image 0" descr="/mnt/data/screens_extracted/mainc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3368" y="1602389"/>
            <a:ext cx="5038344" cy="2592519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13232" y="2148840"/>
            <a:ext cx="2377440" cy="960120"/>
          </a:xfrm>
          <a:prstGeom prst="roundRect">
            <a:avLst>
              <a:gd name="adj" fmla="val 12381"/>
            </a:avLst>
          </a:prstGeom>
          <a:solidFill>
            <a:srgbClr val="141126">
              <a:alpha val="96000"/>
            </a:srgbClr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77824" y="2313432"/>
            <a:ext cx="384048" cy="384048"/>
          </a:xfrm>
          <a:prstGeom prst="ellipse">
            <a:avLst/>
          </a:prstGeom>
          <a:solidFill>
            <a:srgbClr val="1B7DFF">
              <a:alpha val="90000"/>
            </a:srgbClr>
          </a:solidFill>
          <a:ln w="12700">
            <a:solidFill>
              <a:srgbClr val="1B7DFF">
                <a:alpha val="6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6112" y="237744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🎬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371600" y="23134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Синхронный просмотр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371600" y="2633472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Видео запускается, ставится на паузу и перематывается одновременно у участников.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3246120" y="2148840"/>
            <a:ext cx="2377440" cy="960120"/>
          </a:xfrm>
          <a:prstGeom prst="roundRect">
            <a:avLst>
              <a:gd name="adj" fmla="val 12381"/>
            </a:avLst>
          </a:prstGeom>
          <a:solidFill>
            <a:srgbClr val="141126">
              <a:alpha val="96000"/>
            </a:srgbClr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410712" y="2313432"/>
            <a:ext cx="384048" cy="384048"/>
          </a:xfrm>
          <a:prstGeom prst="ellipse">
            <a:avLst/>
          </a:prstGeom>
          <a:solidFill>
            <a:srgbClr val="6E39FF">
              <a:alpha val="90000"/>
            </a:srgbClr>
          </a:solidFill>
          <a:ln w="12700">
            <a:solidFill>
              <a:srgbClr val="6E39FF">
                <a:alpha val="6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29000" y="237744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💬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904488" y="231343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Чат комнаты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904488" y="2633472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Обсуждение фильма прямо внутри платформы без сторонних мессенджеров.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713232" y="3337560"/>
            <a:ext cx="2377440" cy="960120"/>
          </a:xfrm>
          <a:prstGeom prst="roundRect">
            <a:avLst>
              <a:gd name="adj" fmla="val 12381"/>
            </a:avLst>
          </a:prstGeom>
          <a:solidFill>
            <a:srgbClr val="141126">
              <a:alpha val="96000"/>
            </a:srgbClr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77824" y="3502152"/>
            <a:ext cx="384048" cy="384048"/>
          </a:xfrm>
          <a:prstGeom prst="ellipse">
            <a:avLst/>
          </a:prstGeom>
          <a:solidFill>
            <a:srgbClr val="F40F57">
              <a:alpha val="90000"/>
            </a:srgbClr>
          </a:solidFill>
          <a:ln w="12700">
            <a:solidFill>
              <a:srgbClr val="F40F57">
                <a:alpha val="6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96112" y="356616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❤️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371600" y="35021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Реакции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371600" y="3822192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Быстрые эмоции появляются поверх видео у всех участников комнаты.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3246120" y="3337560"/>
            <a:ext cx="2377440" cy="960120"/>
          </a:xfrm>
          <a:prstGeom prst="roundRect">
            <a:avLst>
              <a:gd name="adj" fmla="val 12381"/>
            </a:avLst>
          </a:prstGeom>
          <a:solidFill>
            <a:srgbClr val="141126">
              <a:alpha val="96000"/>
            </a:srgbClr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410712" y="3502152"/>
            <a:ext cx="384048" cy="384048"/>
          </a:xfrm>
          <a:prstGeom prst="ellipse">
            <a:avLst/>
          </a:prstGeom>
          <a:solidFill>
            <a:srgbClr val="5AD7FF">
              <a:alpha val="90000"/>
            </a:srgbClr>
          </a:solidFill>
          <a:ln w="12700">
            <a:solidFill>
              <a:srgbClr val="5AD7FF">
                <a:alpha val="65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429000" y="356616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🗳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3904488" y="35021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Голосование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3904488" y="3822192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Участники выбирают, что смотреть дальше, а Host запускает победителя.</a:t>
            </a:r>
            <a:endParaRPr lang="en-US" sz="780" dirty="0"/>
          </a:p>
        </p:txBody>
      </p:sp>
      <p:sp>
        <p:nvSpPr>
          <p:cNvPr id="39" name="Shape 36"/>
          <p:cNvSpPr/>
          <p:nvPr/>
        </p:nvSpPr>
        <p:spPr>
          <a:xfrm>
            <a:off x="713232" y="4709160"/>
            <a:ext cx="4901184" cy="804672"/>
          </a:xfrm>
          <a:prstGeom prst="roundRect">
            <a:avLst>
              <a:gd name="adj" fmla="val 14773"/>
            </a:avLst>
          </a:prstGeom>
          <a:solidFill>
            <a:srgbClr val="100D1F"/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960120" y="490118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D7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Цель модуля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1920240" y="4873752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Сделать онлайн-просмотр живым, управляемым и удобным для группы пользователей.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658368" y="6446520"/>
            <a:ext cx="108813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58368" y="65379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F789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MoviePlatform · Совместный просмотр</a:t>
            </a:r>
            <a:endParaRPr lang="en-US" sz="650" dirty="0"/>
          </a:p>
        </p:txBody>
      </p:sp>
      <p:sp>
        <p:nvSpPr>
          <p:cNvPr id="44" name="Text 41"/>
          <p:cNvSpPr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789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2"/>
          </a:solidFill>
          <a:ln w="12700">
            <a:solidFill>
              <a:srgbClr val="07071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-1005840"/>
            <a:ext cx="4114800" cy="4114800"/>
          </a:xfrm>
          <a:prstGeom prst="ellipse">
            <a:avLst/>
          </a:prstGeom>
          <a:solidFill>
            <a:srgbClr val="1B7D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434840"/>
            <a:ext cx="4023360" cy="4023360"/>
          </a:xfrm>
          <a:prstGeom prst="ellipse">
            <a:avLst/>
          </a:prstGeom>
          <a:solidFill>
            <a:srgbClr val="F40F57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0" y="5989320"/>
            <a:ext cx="4389120" cy="1645920"/>
          </a:xfrm>
          <a:prstGeom prst="ellipse">
            <a:avLst/>
          </a:prstGeom>
          <a:solidFill>
            <a:srgbClr val="B43D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0F57">
              <a:alpha val="60000"/>
            </a:srgbClr>
          </a:solidFill>
          <a:ln w="12700">
            <a:solidFill>
              <a:srgbClr val="F40F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420624"/>
            <a:ext cx="1554480" cy="283464"/>
          </a:xfrm>
          <a:prstGeom prst="roundRect">
            <a:avLst>
              <a:gd name="adj" fmla="val 19355"/>
            </a:avLst>
          </a:prstGeom>
          <a:solidFill>
            <a:srgbClr val="141126">
              <a:alpha val="90000"/>
            </a:srgbClr>
          </a:solidFill>
          <a:ln w="12700">
            <a:solidFill>
              <a:srgbClr val="3A2F60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7548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AD7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ИНТЕРФЕЙС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927080" y="4480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AD7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7315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Главный экран комнаты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76656" y="1481328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Видео остается главным элементом, а все функции находятся рядом и не мешают просмотру.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" y="1591056"/>
            <a:ext cx="7223760" cy="4343400"/>
          </a:xfrm>
          <a:prstGeom prst="roundRect">
            <a:avLst>
              <a:gd name="adj" fmla="val 2737"/>
            </a:avLst>
          </a:prstGeom>
          <a:solidFill>
            <a:srgbClr val="0A0816"/>
          </a:solidFill>
          <a:ln w="12700">
            <a:solidFill>
              <a:srgbClr val="30284B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1618488"/>
            <a:ext cx="7168896" cy="329184"/>
          </a:xfrm>
          <a:prstGeom prst="roundRect">
            <a:avLst>
              <a:gd name="adj" fmla="val 25000"/>
            </a:avLst>
          </a:prstGeom>
          <a:solidFill>
            <a:srgbClr val="151124">
              <a:alpha val="95000"/>
            </a:srgbClr>
          </a:solidFill>
          <a:ln w="12700">
            <a:solidFill>
              <a:srgbClr val="15112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" y="1719072"/>
            <a:ext cx="73152" cy="73152"/>
          </a:xfrm>
          <a:prstGeom prst="ellipse">
            <a:avLst/>
          </a:prstGeom>
          <a:solidFill>
            <a:srgbClr val="F40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1719072"/>
            <a:ext cx="73152" cy="73152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1719072"/>
            <a:ext cx="73152" cy="73152"/>
          </a:xfrm>
          <a:prstGeom prst="ellipse">
            <a:avLst/>
          </a:prstGeom>
          <a:solidFill>
            <a:srgbClr val="38E6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44752" y="1687068"/>
            <a:ext cx="6217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7F789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Комната совместного просмотра</a:t>
            </a:r>
            <a:endParaRPr lang="en-US" sz="580" dirty="0"/>
          </a:p>
        </p:txBody>
      </p:sp>
      <p:pic>
        <p:nvPicPr>
          <p:cNvPr id="18" name="Image 0" descr="/mnt/data/screens_extracted/mainc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120717"/>
            <a:ext cx="7004304" cy="3604118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8275320" y="1444752"/>
            <a:ext cx="3063240" cy="4526280"/>
          </a:xfrm>
          <a:prstGeom prst="roundRect">
            <a:avLst>
              <a:gd name="adj" fmla="val 3881"/>
            </a:avLst>
          </a:prstGeom>
          <a:solidFill>
            <a:srgbClr val="100D1F">
              <a:alpha val="98000"/>
            </a:srgbClr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577072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Что видит пользователь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558784" y="2331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🎥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887968" y="231343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Плеер с синхронным воспроизведением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558784" y="28620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💬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887968" y="284378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Чат комнаты справа от видео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558784" y="339242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👥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8887968" y="337413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Список участников и статус онлайн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558784" y="392277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❤️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887968" y="390448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Реакции поверх видео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558784" y="445312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🗳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887968" y="44348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Голосование за следующий контент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8549640" y="4901184"/>
            <a:ext cx="2331720" cy="612648"/>
          </a:xfrm>
          <a:prstGeom prst="roundRect">
            <a:avLst>
              <a:gd name="adj" fmla="val 19403"/>
            </a:avLst>
          </a:prstGeom>
          <a:solidFill>
            <a:srgbClr val="1A1430"/>
          </a:solidFill>
          <a:ln w="12700">
            <a:solidFill>
              <a:srgbClr val="F40F57">
                <a:alpha val="55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8796528" y="508406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Без переходов в сторонние сервисы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658368" y="6446520"/>
            <a:ext cx="108813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8368" y="65379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F789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MoviePlatform · Совместный просмотр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789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2"/>
          </a:solidFill>
          <a:ln w="12700">
            <a:solidFill>
              <a:srgbClr val="07071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-1005840"/>
            <a:ext cx="4114800" cy="4114800"/>
          </a:xfrm>
          <a:prstGeom prst="ellipse">
            <a:avLst/>
          </a:prstGeom>
          <a:solidFill>
            <a:srgbClr val="6E39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434840"/>
            <a:ext cx="4023360" cy="4023360"/>
          </a:xfrm>
          <a:prstGeom prst="ellipse">
            <a:avLst/>
          </a:prstGeom>
          <a:solidFill>
            <a:srgbClr val="F40F57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0" y="5989320"/>
            <a:ext cx="4389120" cy="1645920"/>
          </a:xfrm>
          <a:prstGeom prst="ellipse">
            <a:avLst/>
          </a:prstGeom>
          <a:solidFill>
            <a:srgbClr val="B43D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0F57">
              <a:alpha val="60000"/>
            </a:srgbClr>
          </a:solidFill>
          <a:ln w="12700">
            <a:solidFill>
              <a:srgbClr val="F40F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420624"/>
            <a:ext cx="1554480" cy="283464"/>
          </a:xfrm>
          <a:prstGeom prst="roundRect">
            <a:avLst>
              <a:gd name="adj" fmla="val 19355"/>
            </a:avLst>
          </a:prstGeom>
          <a:solidFill>
            <a:srgbClr val="141126">
              <a:alpha val="90000"/>
            </a:srgbClr>
          </a:solidFill>
          <a:ln w="12700">
            <a:solidFill>
              <a:srgbClr val="3A2F60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7548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AD7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УПРАВЛЕНИЕ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927080" y="4480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AD7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786384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Host управляет просмотром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76656" y="1536192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Комната не превращается в хаос: ключевые действия доступны владельцу комнаты.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9808" y="1828800"/>
            <a:ext cx="4663440" cy="1234440"/>
          </a:xfrm>
          <a:prstGeom prst="roundRect">
            <a:avLst>
              <a:gd name="adj" fmla="val 9630"/>
            </a:avLst>
          </a:prstGeom>
          <a:solidFill>
            <a:srgbClr val="0C0A17"/>
          </a:solidFill>
          <a:ln w="12700">
            <a:solidFill>
              <a:srgbClr val="3D315E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78408" y="19933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Панель быстрых действий</a:t>
            </a:r>
            <a:endParaRPr lang="en-US" sz="900" dirty="0"/>
          </a:p>
        </p:txBody>
      </p:sp>
      <p:pic>
        <p:nvPicPr>
          <p:cNvPr id="14" name="Image 0" descr="/mnt/data/screens_extracted/доп кнопки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223" y="2331720"/>
            <a:ext cx="4056611" cy="51206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806440" y="1737360"/>
            <a:ext cx="2423160" cy="960120"/>
          </a:xfrm>
          <a:prstGeom prst="roundRect">
            <a:avLst>
              <a:gd name="adj" fmla="val 12381"/>
            </a:avLst>
          </a:prstGeom>
          <a:solidFill>
            <a:srgbClr val="141126">
              <a:alpha val="96000"/>
            </a:srgbClr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71032" y="1901952"/>
            <a:ext cx="384048" cy="384048"/>
          </a:xfrm>
          <a:prstGeom prst="ellipse">
            <a:avLst/>
          </a:prstGeom>
          <a:solidFill>
            <a:srgbClr val="5AD7FF">
              <a:alpha val="90000"/>
            </a:srgbClr>
          </a:solidFill>
          <a:ln w="12700">
            <a:solidFill>
              <a:srgbClr val="5AD7FF">
                <a:alpha val="6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196596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🔄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64808" y="19019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Синхронизация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64808" y="2221992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Участники могут быстро вернуться к актуальному времени просмотра.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8430768" y="1737360"/>
            <a:ext cx="2423160" cy="960120"/>
          </a:xfrm>
          <a:prstGeom prst="roundRect">
            <a:avLst>
              <a:gd name="adj" fmla="val 12381"/>
            </a:avLst>
          </a:prstGeom>
          <a:solidFill>
            <a:srgbClr val="141126">
              <a:alpha val="96000"/>
            </a:srgbClr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595360" y="1901952"/>
            <a:ext cx="384048" cy="384048"/>
          </a:xfrm>
          <a:prstGeom prst="ellipse">
            <a:avLst/>
          </a:prstGeom>
          <a:solidFill>
            <a:srgbClr val="6E39FF">
              <a:alpha val="90000"/>
            </a:srgbClr>
          </a:solidFill>
          <a:ln w="12700">
            <a:solidFill>
              <a:srgbClr val="6E39FF">
                <a:alpha val="6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13648" y="196596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🚪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089136" y="190195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Выход из комнаты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089136" y="2221992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Пользователь может покинуть комнату без влияния на остальных.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5806440" y="2971800"/>
            <a:ext cx="2423160" cy="960120"/>
          </a:xfrm>
          <a:prstGeom prst="roundRect">
            <a:avLst>
              <a:gd name="adj" fmla="val 12381"/>
            </a:avLst>
          </a:prstGeom>
          <a:solidFill>
            <a:srgbClr val="141126">
              <a:alpha val="96000"/>
            </a:srgbClr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971032" y="3136392"/>
            <a:ext cx="384048" cy="384048"/>
          </a:xfrm>
          <a:prstGeom prst="ellipse">
            <a:avLst/>
          </a:prstGeom>
          <a:solidFill>
            <a:srgbClr val="FFB347">
              <a:alpha val="90000"/>
            </a:srgbClr>
          </a:solidFill>
          <a:ln w="12700">
            <a:solidFill>
              <a:srgbClr val="FFB347">
                <a:alpha val="6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89320" y="320040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👑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64808" y="31363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Передача Host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464808" y="3456432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Владелец может передать управление другому участнику.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8430768" y="2971800"/>
            <a:ext cx="2423160" cy="960120"/>
          </a:xfrm>
          <a:prstGeom prst="roundRect">
            <a:avLst>
              <a:gd name="adj" fmla="val 12381"/>
            </a:avLst>
          </a:prstGeom>
          <a:solidFill>
            <a:srgbClr val="141126">
              <a:alpha val="96000"/>
            </a:srgbClr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595360" y="3136392"/>
            <a:ext cx="384048" cy="384048"/>
          </a:xfrm>
          <a:prstGeom prst="ellipse">
            <a:avLst/>
          </a:prstGeom>
          <a:solidFill>
            <a:srgbClr val="F40F57">
              <a:alpha val="90000"/>
            </a:srgbClr>
          </a:solidFill>
          <a:ln w="12700">
            <a:solidFill>
              <a:srgbClr val="F40F57">
                <a:alpha val="65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613648" y="320040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⏹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089136" y="3136392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Завершение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9089136" y="3456432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Host завершает сеанс для всех участников комнаты.</a:t>
            </a:r>
            <a:endParaRPr lang="en-US" sz="780" dirty="0"/>
          </a:p>
        </p:txBody>
      </p:sp>
      <p:sp>
        <p:nvSpPr>
          <p:cNvPr id="35" name="Shape 32"/>
          <p:cNvSpPr/>
          <p:nvPr/>
        </p:nvSpPr>
        <p:spPr>
          <a:xfrm>
            <a:off x="749808" y="3730752"/>
            <a:ext cx="4663440" cy="1207008"/>
          </a:xfrm>
          <a:prstGeom prst="roundRect">
            <a:avLst>
              <a:gd name="adj" fmla="val 9848"/>
            </a:avLst>
          </a:prstGeom>
          <a:solidFill>
            <a:srgbClr val="110D20"/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1033272" y="40050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Сценарий владельца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1051560" y="444398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Запустить просмотр, поставить на паузу, синхронизировать участников, передать роль или завершить комнату - все действия собраны в одном месте.</a:t>
            </a:r>
            <a:endParaRPr lang="en-US" sz="920" dirty="0"/>
          </a:p>
        </p:txBody>
      </p:sp>
      <p:sp>
        <p:nvSpPr>
          <p:cNvPr id="38" name="Shape 35"/>
          <p:cNvSpPr/>
          <p:nvPr/>
        </p:nvSpPr>
        <p:spPr>
          <a:xfrm>
            <a:off x="658368" y="6446520"/>
            <a:ext cx="108813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8368" y="65379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F789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MoviePlatform · Совместный просмотр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789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2"/>
          </a:solidFill>
          <a:ln w="12700">
            <a:solidFill>
              <a:srgbClr val="07071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-1005840"/>
            <a:ext cx="4114800" cy="4114800"/>
          </a:xfrm>
          <a:prstGeom prst="ellipse">
            <a:avLst/>
          </a:prstGeom>
          <a:solidFill>
            <a:srgbClr val="1B7D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434840"/>
            <a:ext cx="4023360" cy="4023360"/>
          </a:xfrm>
          <a:prstGeom prst="ellipse">
            <a:avLst/>
          </a:prstGeom>
          <a:solidFill>
            <a:srgbClr val="F40F57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0" y="5989320"/>
            <a:ext cx="4389120" cy="1645920"/>
          </a:xfrm>
          <a:prstGeom prst="ellipse">
            <a:avLst/>
          </a:prstGeom>
          <a:solidFill>
            <a:srgbClr val="B43D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0F57">
              <a:alpha val="60000"/>
            </a:srgbClr>
          </a:solidFill>
          <a:ln w="12700">
            <a:solidFill>
              <a:srgbClr val="F40F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420624"/>
            <a:ext cx="1554480" cy="283464"/>
          </a:xfrm>
          <a:prstGeom prst="roundRect">
            <a:avLst>
              <a:gd name="adj" fmla="val 19355"/>
            </a:avLst>
          </a:prstGeom>
          <a:solidFill>
            <a:srgbClr val="141126">
              <a:alpha val="90000"/>
            </a:srgbClr>
          </a:solidFill>
          <a:ln w="12700">
            <a:solidFill>
              <a:srgbClr val="3A2F60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7548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AD7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РЕАКЦИИ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927080" y="4480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AD7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786384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Эмоции поверх видео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76656" y="1536192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Участники реагируют на сцену мгновенно, не отвлекаясь от просмотра.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77824" y="1828800"/>
            <a:ext cx="5029200" cy="1965960"/>
          </a:xfrm>
          <a:prstGeom prst="roundRect">
            <a:avLst>
              <a:gd name="adj" fmla="val 6047"/>
            </a:avLst>
          </a:prstGeom>
          <a:solidFill>
            <a:srgbClr val="0C0A17"/>
          </a:solidFill>
          <a:ln w="12700">
            <a:solidFill>
              <a:srgbClr val="3D315E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06424" y="19933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Быстрые реакции</a:t>
            </a:r>
            <a:endParaRPr lang="en-US" sz="900" dirty="0"/>
          </a:p>
        </p:txBody>
      </p:sp>
      <p:pic>
        <p:nvPicPr>
          <p:cNvPr id="14" name="Image 0" descr="/mnt/data/screens_extracted/реакции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5254" y="2331720"/>
            <a:ext cx="3974341" cy="12435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629400" y="192024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❤️  🔥  😂  👏  😮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6565392" y="2788920"/>
            <a:ext cx="4023360" cy="1325880"/>
          </a:xfrm>
          <a:prstGeom prst="roundRect">
            <a:avLst>
              <a:gd name="adj" fmla="val 8966"/>
            </a:avLst>
          </a:prstGeom>
          <a:solidFill>
            <a:srgbClr val="111024"/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876288" y="3090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D7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Преимущество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876288" y="34015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Реакции создают ощущение живого совместного просмотра - как будто зрители сидят рядом.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6565392" y="4434840"/>
            <a:ext cx="1828800" cy="822960"/>
          </a:xfrm>
          <a:prstGeom prst="roundRect">
            <a:avLst>
              <a:gd name="adj" fmla="val 14444"/>
            </a:avLst>
          </a:prstGeom>
          <a:solidFill>
            <a:srgbClr val="141126">
              <a:alpha val="96000"/>
            </a:srgbClr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729984" y="4599432"/>
            <a:ext cx="384048" cy="384048"/>
          </a:xfrm>
          <a:prstGeom prst="ellipse">
            <a:avLst/>
          </a:prstGeom>
          <a:solidFill>
            <a:srgbClr val="6E39FF">
              <a:alpha val="90000"/>
            </a:srgbClr>
          </a:solidFill>
          <a:ln w="12700">
            <a:solidFill>
              <a:srgbClr val="6E39FF">
                <a:alpha val="6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48272" y="466344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⚡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223760" y="45994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Мгновенно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223760" y="49194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Событие отправляется всем участникам в реальном времени.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8668512" y="4434840"/>
            <a:ext cx="1828800" cy="822960"/>
          </a:xfrm>
          <a:prstGeom prst="roundRect">
            <a:avLst>
              <a:gd name="adj" fmla="val 14444"/>
            </a:avLst>
          </a:prstGeom>
          <a:solidFill>
            <a:srgbClr val="141126">
              <a:alpha val="96000"/>
            </a:srgbClr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833104" y="4599432"/>
            <a:ext cx="384048" cy="384048"/>
          </a:xfrm>
          <a:prstGeom prst="ellipse">
            <a:avLst/>
          </a:prstGeom>
          <a:solidFill>
            <a:srgbClr val="F40F57">
              <a:alpha val="90000"/>
            </a:srgbClr>
          </a:solidFill>
          <a:ln w="12700">
            <a:solidFill>
              <a:srgbClr val="F40F57">
                <a:alpha val="6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51392" y="466344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✨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326880" y="45994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Ненавязчиво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326880" y="49194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Анимация короткая и не перекрывает просмотр.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658368" y="6446520"/>
            <a:ext cx="108813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8368" y="65379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F789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MoviePlatform · Совместный просмотр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789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2"/>
          </a:solidFill>
          <a:ln w="12700">
            <a:solidFill>
              <a:srgbClr val="07071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-1005840"/>
            <a:ext cx="4114800" cy="4114800"/>
          </a:xfrm>
          <a:prstGeom prst="ellipse">
            <a:avLst/>
          </a:prstGeom>
          <a:solidFill>
            <a:srgbClr val="6E39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434840"/>
            <a:ext cx="4023360" cy="4023360"/>
          </a:xfrm>
          <a:prstGeom prst="ellipse">
            <a:avLst/>
          </a:prstGeom>
          <a:solidFill>
            <a:srgbClr val="F40F57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0" y="5989320"/>
            <a:ext cx="4389120" cy="1645920"/>
          </a:xfrm>
          <a:prstGeom prst="ellipse">
            <a:avLst/>
          </a:prstGeom>
          <a:solidFill>
            <a:srgbClr val="B43D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0F57">
              <a:alpha val="60000"/>
            </a:srgbClr>
          </a:solidFill>
          <a:ln w="12700">
            <a:solidFill>
              <a:srgbClr val="F40F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420624"/>
            <a:ext cx="1554480" cy="283464"/>
          </a:xfrm>
          <a:prstGeom prst="roundRect">
            <a:avLst>
              <a:gd name="adj" fmla="val 19355"/>
            </a:avLst>
          </a:prstGeom>
          <a:solidFill>
            <a:srgbClr val="141126">
              <a:alpha val="90000"/>
            </a:srgbClr>
          </a:solidFill>
          <a:ln w="12700">
            <a:solidFill>
              <a:srgbClr val="3A2F60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7548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AD7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ЧАТ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927080" y="4480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AD7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786384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Чат комнаты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76656" y="1536192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Обсуждение фильма, ссылок и реакций - прямо внутри текущей комнаты.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32320" y="1261872"/>
            <a:ext cx="3474720" cy="4206240"/>
          </a:xfrm>
          <a:prstGeom prst="roundRect">
            <a:avLst>
              <a:gd name="adj" fmla="val 3421"/>
            </a:avLst>
          </a:prstGeom>
          <a:solidFill>
            <a:srgbClr val="0C0A17"/>
          </a:solidFill>
          <a:ln w="12700">
            <a:solidFill>
              <a:srgbClr val="3D315E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60920" y="142646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Чат комнаты</a:t>
            </a:r>
            <a:endParaRPr lang="en-US" sz="900" dirty="0"/>
          </a:p>
        </p:txBody>
      </p:sp>
      <p:pic>
        <p:nvPicPr>
          <p:cNvPr id="14" name="Image 0" descr="/mnt/data/screens_extracted/cha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88" y="2177739"/>
            <a:ext cx="3072384" cy="2657969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49808" y="1664208"/>
            <a:ext cx="5394960" cy="3474720"/>
          </a:xfrm>
          <a:prstGeom prst="roundRect">
            <a:avLst>
              <a:gd name="adj" fmla="val 3421"/>
            </a:avLst>
          </a:prstGeom>
          <a:solidFill>
            <a:srgbClr val="110D21"/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115568" y="2029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Зачем нужен чат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1170432" y="2788920"/>
            <a:ext cx="100584" cy="100584"/>
          </a:xfrm>
          <a:prstGeom prst="ellipse">
            <a:avLst/>
          </a:prstGeom>
          <a:solidFill>
            <a:srgbClr val="5AD7FF"/>
          </a:solidFill>
          <a:ln w="12700">
            <a:solidFill>
              <a:srgbClr val="5AD7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53312" y="27432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Обсуждать видео без перехода в мессенджеры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1170432" y="3264408"/>
            <a:ext cx="100584" cy="100584"/>
          </a:xfrm>
          <a:prstGeom prst="ellipse">
            <a:avLst/>
          </a:prstGeom>
          <a:solidFill>
            <a:srgbClr val="F40F57"/>
          </a:solidFill>
          <a:ln w="12700">
            <a:solidFill>
              <a:srgbClr val="F40F5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53312" y="32186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Отправлять сообщения в режиме реального времени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1170432" y="3739896"/>
            <a:ext cx="100584" cy="100584"/>
          </a:xfrm>
          <a:prstGeom prst="ellipse">
            <a:avLst/>
          </a:prstGeom>
          <a:solidFill>
            <a:srgbClr val="6E39FF"/>
          </a:solidFill>
          <a:ln w="12700">
            <a:solidFill>
              <a:srgbClr val="6E39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53312" y="36941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Сохранять историю переписки комнаты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1170432" y="4215384"/>
            <a:ext cx="100584" cy="100584"/>
          </a:xfrm>
          <a:prstGeom prst="ellipse">
            <a:avLst/>
          </a:prstGeom>
          <a:solidFill>
            <a:srgbClr val="38E6A1"/>
          </a:solidFill>
          <a:ln w="12700">
            <a:solidFill>
              <a:srgbClr val="38E6A1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353312" y="416966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 мешать плееру и основному просмотру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58368" y="6446520"/>
            <a:ext cx="108813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8368" y="65379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F789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MoviePlatform · Совместный просмотр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789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2"/>
          </a:solidFill>
          <a:ln w="12700">
            <a:solidFill>
              <a:srgbClr val="07071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-1005840"/>
            <a:ext cx="4114800" cy="4114800"/>
          </a:xfrm>
          <a:prstGeom prst="ellipse">
            <a:avLst/>
          </a:prstGeom>
          <a:solidFill>
            <a:srgbClr val="1B7D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434840"/>
            <a:ext cx="4023360" cy="4023360"/>
          </a:xfrm>
          <a:prstGeom prst="ellipse">
            <a:avLst/>
          </a:prstGeom>
          <a:solidFill>
            <a:srgbClr val="F40F57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0" y="5989320"/>
            <a:ext cx="4389120" cy="1645920"/>
          </a:xfrm>
          <a:prstGeom prst="ellipse">
            <a:avLst/>
          </a:prstGeom>
          <a:solidFill>
            <a:srgbClr val="B43D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0F57">
              <a:alpha val="60000"/>
            </a:srgbClr>
          </a:solidFill>
          <a:ln w="12700">
            <a:solidFill>
              <a:srgbClr val="F40F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420624"/>
            <a:ext cx="1554480" cy="283464"/>
          </a:xfrm>
          <a:prstGeom prst="roundRect">
            <a:avLst>
              <a:gd name="adj" fmla="val 19355"/>
            </a:avLst>
          </a:prstGeom>
          <a:solidFill>
            <a:srgbClr val="141126">
              <a:alpha val="90000"/>
            </a:srgbClr>
          </a:solidFill>
          <a:ln w="12700">
            <a:solidFill>
              <a:srgbClr val="3A2F60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7548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AD7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УЧАСТНИКИ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927080" y="4480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AD7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07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786384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Участники и роли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76656" y="15361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 комнате видно, кто подключен, кто владелец и кто сейчас смотрит контент.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1248" y="1508760"/>
            <a:ext cx="4663440" cy="3520440"/>
          </a:xfrm>
          <a:prstGeom prst="roundRect">
            <a:avLst>
              <a:gd name="adj" fmla="val 3377"/>
            </a:avLst>
          </a:prstGeom>
          <a:solidFill>
            <a:srgbClr val="0C0A17"/>
          </a:solidFill>
          <a:ln w="12700">
            <a:solidFill>
              <a:srgbClr val="3D315E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69848" y="16733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Панель участников</a:t>
            </a:r>
            <a:endParaRPr lang="en-US" sz="900" dirty="0"/>
          </a:p>
        </p:txBody>
      </p:sp>
      <p:pic>
        <p:nvPicPr>
          <p:cNvPr id="14" name="Image 0" descr="/mnt/data/screens_extracted/участники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46319"/>
            <a:ext cx="4261104" cy="252878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5989320" y="1600200"/>
            <a:ext cx="2148840" cy="960120"/>
          </a:xfrm>
          <a:prstGeom prst="roundRect">
            <a:avLst>
              <a:gd name="adj" fmla="val 12381"/>
            </a:avLst>
          </a:prstGeom>
          <a:solidFill>
            <a:srgbClr val="141126">
              <a:alpha val="96000"/>
            </a:srgbClr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53912" y="1764792"/>
            <a:ext cx="384048" cy="384048"/>
          </a:xfrm>
          <a:prstGeom prst="ellipse">
            <a:avLst/>
          </a:prstGeom>
          <a:solidFill>
            <a:srgbClr val="38E6A1">
              <a:alpha val="90000"/>
            </a:srgbClr>
          </a:solidFill>
          <a:ln w="12700">
            <a:solidFill>
              <a:srgbClr val="38E6A1">
                <a:alpha val="6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72200" y="182880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🟢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647688" y="17647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Статус онлайн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647688" y="2084832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Мгновенно видно, кто подключен к комнате.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8366760" y="1600200"/>
            <a:ext cx="2148840" cy="960120"/>
          </a:xfrm>
          <a:prstGeom prst="roundRect">
            <a:avLst>
              <a:gd name="adj" fmla="val 12381"/>
            </a:avLst>
          </a:prstGeom>
          <a:solidFill>
            <a:srgbClr val="141126">
              <a:alpha val="96000"/>
            </a:srgbClr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531352" y="1764792"/>
            <a:ext cx="384048" cy="384048"/>
          </a:xfrm>
          <a:prstGeom prst="ellipse">
            <a:avLst/>
          </a:prstGeom>
          <a:solidFill>
            <a:srgbClr val="FFB347">
              <a:alpha val="90000"/>
            </a:srgbClr>
          </a:solidFill>
          <a:ln w="12700">
            <a:solidFill>
              <a:srgbClr val="FFB347">
                <a:alpha val="6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49640" y="182880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👑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025128" y="17647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Роль Host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025128" y="2084832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Владелец комнаты отмечен отдельным бейджем.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5989320" y="2880360"/>
            <a:ext cx="2148840" cy="960120"/>
          </a:xfrm>
          <a:prstGeom prst="roundRect">
            <a:avLst>
              <a:gd name="adj" fmla="val 12381"/>
            </a:avLst>
          </a:prstGeom>
          <a:solidFill>
            <a:srgbClr val="141126">
              <a:alpha val="96000"/>
            </a:srgbClr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153912" y="3044952"/>
            <a:ext cx="384048" cy="384048"/>
          </a:xfrm>
          <a:prstGeom prst="ellipse">
            <a:avLst/>
          </a:prstGeom>
          <a:solidFill>
            <a:srgbClr val="1B7DFF">
              <a:alpha val="90000"/>
            </a:srgbClr>
          </a:solidFill>
          <a:ln w="12700">
            <a:solidFill>
              <a:srgbClr val="1B7DFF">
                <a:alpha val="6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72200" y="310896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🎬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647688" y="304495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Статус просмотра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647688" y="3364992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Панель показывает, кто находится в комнате и смотрит видео.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8366760" y="2880360"/>
            <a:ext cx="2148840" cy="960120"/>
          </a:xfrm>
          <a:prstGeom prst="roundRect">
            <a:avLst>
              <a:gd name="adj" fmla="val 12381"/>
            </a:avLst>
          </a:prstGeom>
          <a:solidFill>
            <a:srgbClr val="141126">
              <a:alpha val="96000"/>
            </a:srgbClr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531352" y="3044952"/>
            <a:ext cx="384048" cy="384048"/>
          </a:xfrm>
          <a:prstGeom prst="ellipse">
            <a:avLst/>
          </a:prstGeom>
          <a:solidFill>
            <a:srgbClr val="F40F57">
              <a:alpha val="90000"/>
            </a:srgbClr>
          </a:solidFill>
          <a:ln w="12700">
            <a:solidFill>
              <a:srgbClr val="F40F57">
                <a:alpha val="65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549640" y="310896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🔄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025128" y="304495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Передача прав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9025128" y="3364992"/>
            <a:ext cx="1325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Host может передать управление другому участнику.</a:t>
            </a:r>
            <a:endParaRPr lang="en-US" sz="780" dirty="0"/>
          </a:p>
        </p:txBody>
      </p:sp>
      <p:sp>
        <p:nvSpPr>
          <p:cNvPr id="35" name="Shape 32"/>
          <p:cNvSpPr/>
          <p:nvPr/>
        </p:nvSpPr>
        <p:spPr>
          <a:xfrm>
            <a:off x="5989320" y="4343400"/>
            <a:ext cx="4526280" cy="658368"/>
          </a:xfrm>
          <a:prstGeom prst="roundRect">
            <a:avLst>
              <a:gd name="adj" fmla="val 18056"/>
            </a:avLst>
          </a:prstGeom>
          <a:solidFill>
            <a:srgbClr val="1A1430"/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327648" y="45537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Комната остается управляемой даже при нескольких участниках.</a:t>
            </a:r>
            <a:endParaRPr lang="en-US" sz="1020" dirty="0"/>
          </a:p>
        </p:txBody>
      </p:sp>
      <p:sp>
        <p:nvSpPr>
          <p:cNvPr id="37" name="Shape 34"/>
          <p:cNvSpPr/>
          <p:nvPr/>
        </p:nvSpPr>
        <p:spPr>
          <a:xfrm>
            <a:off x="658368" y="6446520"/>
            <a:ext cx="108813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8368" y="65379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F789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MoviePlatform · Совместный просмотр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789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2"/>
          </a:solidFill>
          <a:ln w="12700">
            <a:solidFill>
              <a:srgbClr val="07071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-1005840"/>
            <a:ext cx="4114800" cy="4114800"/>
          </a:xfrm>
          <a:prstGeom prst="ellipse">
            <a:avLst/>
          </a:prstGeom>
          <a:solidFill>
            <a:srgbClr val="6E39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434840"/>
            <a:ext cx="4023360" cy="4023360"/>
          </a:xfrm>
          <a:prstGeom prst="ellipse">
            <a:avLst/>
          </a:prstGeom>
          <a:solidFill>
            <a:srgbClr val="F40F57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0" y="5989320"/>
            <a:ext cx="4389120" cy="1645920"/>
          </a:xfrm>
          <a:prstGeom prst="ellipse">
            <a:avLst/>
          </a:prstGeom>
          <a:solidFill>
            <a:srgbClr val="B43D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0F57">
              <a:alpha val="60000"/>
            </a:srgbClr>
          </a:solidFill>
          <a:ln w="12700">
            <a:solidFill>
              <a:srgbClr val="F40F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420624"/>
            <a:ext cx="1554480" cy="283464"/>
          </a:xfrm>
          <a:prstGeom prst="roundRect">
            <a:avLst>
              <a:gd name="adj" fmla="val 19355"/>
            </a:avLst>
          </a:prstGeom>
          <a:solidFill>
            <a:srgbClr val="141126">
              <a:alpha val="90000"/>
            </a:srgbClr>
          </a:solidFill>
          <a:ln w="12700">
            <a:solidFill>
              <a:srgbClr val="3A2F60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7548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AD7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ГОЛОСОВАНИЕ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927080" y="4480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AD7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08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786384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Выбор следующего контента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76656" y="15361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После просмотра участники могут выбрать, что смотреть дальше.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1554480"/>
            <a:ext cx="4023360" cy="2468880"/>
          </a:xfrm>
          <a:prstGeom prst="roundRect">
            <a:avLst>
              <a:gd name="adj" fmla="val 4815"/>
            </a:avLst>
          </a:prstGeom>
          <a:solidFill>
            <a:srgbClr val="0C0A17"/>
          </a:solidFill>
          <a:ln w="12700">
            <a:solidFill>
              <a:srgbClr val="3D315E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20840" y="17190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Голосование</a:t>
            </a:r>
            <a:endParaRPr lang="en-US" sz="900" dirty="0"/>
          </a:p>
        </p:txBody>
      </p:sp>
      <p:pic>
        <p:nvPicPr>
          <p:cNvPr id="14" name="Image 0" descr="/mnt/data/screens_extracted/next conte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6377" y="2057400"/>
            <a:ext cx="3235085" cy="174650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41248" y="1755648"/>
            <a:ext cx="411480" cy="411480"/>
          </a:xfrm>
          <a:prstGeom prst="ellipse">
            <a:avLst/>
          </a:prstGeom>
          <a:solidFill>
            <a:srgbClr val="F40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" y="187452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01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444752" y="18105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Host создает голосование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051560" y="2240280"/>
            <a:ext cx="0" cy="411480"/>
          </a:xfrm>
          <a:prstGeom prst="line">
            <a:avLst/>
          </a:prstGeom>
          <a:noFill/>
          <a:ln w="12700">
            <a:solidFill>
              <a:srgbClr val="3A2F6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1248" y="2578608"/>
            <a:ext cx="411480" cy="411480"/>
          </a:xfrm>
          <a:prstGeom prst="ellipse">
            <a:avLst/>
          </a:prstGeom>
          <a:solidFill>
            <a:srgbClr val="6E3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" y="269748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444752" y="2633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Участники выбирают вариант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051560" y="3063240"/>
            <a:ext cx="0" cy="411480"/>
          </a:xfrm>
          <a:prstGeom prst="line">
            <a:avLst/>
          </a:prstGeom>
          <a:noFill/>
          <a:ln w="12700">
            <a:solidFill>
              <a:srgbClr val="3A2F6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1248" y="3401568"/>
            <a:ext cx="411480" cy="411480"/>
          </a:xfrm>
          <a:prstGeom prst="ellipse">
            <a:avLst/>
          </a:prstGeom>
          <a:solidFill>
            <a:srgbClr val="F40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41248" y="352044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444752" y="3456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Побеждает самый популярный контент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1051560" y="3886200"/>
            <a:ext cx="0" cy="411480"/>
          </a:xfrm>
          <a:prstGeom prst="line">
            <a:avLst/>
          </a:prstGeom>
          <a:noFill/>
          <a:ln w="12700">
            <a:solidFill>
              <a:srgbClr val="3A2F6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1248" y="4224528"/>
            <a:ext cx="411480" cy="411480"/>
          </a:xfrm>
          <a:prstGeom prst="ellipse">
            <a:avLst/>
          </a:prstGeom>
          <a:solidFill>
            <a:srgbClr val="6E3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41248" y="4343400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444752" y="4279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Владелец запускает следующий просмотр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41248" y="5230368"/>
            <a:ext cx="9674352" cy="566928"/>
          </a:xfrm>
          <a:prstGeom prst="roundRect">
            <a:avLst>
              <a:gd name="adj" fmla="val 20968"/>
            </a:avLst>
          </a:prstGeom>
          <a:solidFill>
            <a:srgbClr val="100D1F"/>
          </a:solidFill>
          <a:ln w="12700">
            <a:solidFill>
              <a:srgbClr val="5AD7FF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188720" y="5422392"/>
            <a:ext cx="8915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Итог: пользователь не покидает комнату, а просмотр продолжается естественно.</a:t>
            </a:r>
            <a:endParaRPr lang="en-US" sz="960" dirty="0"/>
          </a:p>
        </p:txBody>
      </p:sp>
      <p:sp>
        <p:nvSpPr>
          <p:cNvPr id="32" name="Shape 29"/>
          <p:cNvSpPr/>
          <p:nvPr/>
        </p:nvSpPr>
        <p:spPr>
          <a:xfrm>
            <a:off x="658368" y="6446520"/>
            <a:ext cx="108813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8368" y="65379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F789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MoviePlatform · Совместный просмотр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789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2"/>
          </a:solidFill>
          <a:ln w="12700">
            <a:solidFill>
              <a:srgbClr val="07071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-1005840"/>
            <a:ext cx="4114800" cy="4114800"/>
          </a:xfrm>
          <a:prstGeom prst="ellipse">
            <a:avLst/>
          </a:prstGeom>
          <a:solidFill>
            <a:srgbClr val="1B7D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434840"/>
            <a:ext cx="4023360" cy="4023360"/>
          </a:xfrm>
          <a:prstGeom prst="ellipse">
            <a:avLst/>
          </a:prstGeom>
          <a:solidFill>
            <a:srgbClr val="F40F57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0" y="5989320"/>
            <a:ext cx="4389120" cy="1645920"/>
          </a:xfrm>
          <a:prstGeom prst="ellipse">
            <a:avLst/>
          </a:prstGeom>
          <a:solidFill>
            <a:srgbClr val="B43D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0F57">
              <a:alpha val="60000"/>
            </a:srgbClr>
          </a:solidFill>
          <a:ln w="12700">
            <a:solidFill>
              <a:srgbClr val="F40F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420624"/>
            <a:ext cx="1554480" cy="283464"/>
          </a:xfrm>
          <a:prstGeom prst="roundRect">
            <a:avLst>
              <a:gd name="adj" fmla="val 19355"/>
            </a:avLst>
          </a:prstGeom>
          <a:solidFill>
            <a:srgbClr val="141126">
              <a:alpha val="90000"/>
            </a:srgbClr>
          </a:solidFill>
          <a:ln w="12700">
            <a:solidFill>
              <a:srgbClr val="3A2F60">
                <a:alpha val="6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75488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5AD7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ИТОГ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0927080" y="4480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AD7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09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58368" y="804672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Ключевые возможности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76656" y="15544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Модуль закрывает полный сценарий группового просмотра внутри платформы.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1248" y="1828800"/>
            <a:ext cx="2148840" cy="960120"/>
          </a:xfrm>
          <a:prstGeom prst="roundRect">
            <a:avLst>
              <a:gd name="adj" fmla="val 12381"/>
            </a:avLst>
          </a:prstGeom>
          <a:solidFill>
            <a:srgbClr val="111024"/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42416" y="20574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99616" y="21214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Совместный просмотр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621024" y="1828800"/>
            <a:ext cx="2148840" cy="960120"/>
          </a:xfrm>
          <a:prstGeom prst="roundRect">
            <a:avLst>
              <a:gd name="adj" fmla="val 12381"/>
            </a:avLst>
          </a:prstGeom>
          <a:solidFill>
            <a:srgbClr val="111024"/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22192" y="20574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79392" y="21214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Синхронизация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400800" y="1828800"/>
            <a:ext cx="2148840" cy="960120"/>
          </a:xfrm>
          <a:prstGeom prst="roundRect">
            <a:avLst>
              <a:gd name="adj" fmla="val 12381"/>
            </a:avLst>
          </a:prstGeom>
          <a:solidFill>
            <a:srgbClr val="111024"/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01968" y="20574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👑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59168" y="21214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Host-управление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180576" y="1828800"/>
            <a:ext cx="2148840" cy="960120"/>
          </a:xfrm>
          <a:prstGeom prst="roundRect">
            <a:avLst>
              <a:gd name="adj" fmla="val 12381"/>
            </a:avLst>
          </a:prstGeom>
          <a:solidFill>
            <a:srgbClr val="111024"/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81744" y="20574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838944" y="21214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Чат комнаты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841248" y="3154680"/>
            <a:ext cx="2148840" cy="960120"/>
          </a:xfrm>
          <a:prstGeom prst="roundRect">
            <a:avLst>
              <a:gd name="adj" fmla="val 12381"/>
            </a:avLst>
          </a:prstGeom>
          <a:solidFill>
            <a:srgbClr val="111024"/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42416" y="33832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❤️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99616" y="34472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Реакции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3621024" y="3154680"/>
            <a:ext cx="2148840" cy="960120"/>
          </a:xfrm>
          <a:prstGeom prst="roundRect">
            <a:avLst>
              <a:gd name="adj" fmla="val 12381"/>
            </a:avLst>
          </a:prstGeom>
          <a:solidFill>
            <a:srgbClr val="111024"/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22192" y="33832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🗳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79392" y="34472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Голосование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400800" y="3154680"/>
            <a:ext cx="2148840" cy="960120"/>
          </a:xfrm>
          <a:prstGeom prst="roundRect">
            <a:avLst>
              <a:gd name="adj" fmla="val 12381"/>
            </a:avLst>
          </a:prstGeom>
          <a:solidFill>
            <a:srgbClr val="111024"/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601968" y="33832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⚡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59168" y="34472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Real-time события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9180576" y="3154680"/>
            <a:ext cx="2148840" cy="960120"/>
          </a:xfrm>
          <a:prstGeom prst="roundRect">
            <a:avLst>
              <a:gd name="adj" fmla="val 12381"/>
            </a:avLst>
          </a:prstGeom>
          <a:solidFill>
            <a:srgbClr val="111024"/>
          </a:solidFill>
          <a:ln w="12700">
            <a:solidFill>
              <a:srgbClr val="3A2F60">
                <a:alpha val="8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381744" y="33832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🎥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838944" y="344728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HLS-воспроизведение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841248" y="4892040"/>
            <a:ext cx="10515600" cy="896112"/>
          </a:xfrm>
          <a:prstGeom prst="roundRect">
            <a:avLst>
              <a:gd name="adj" fmla="val 13265"/>
            </a:avLst>
          </a:prstGeom>
          <a:solidFill>
            <a:srgbClr val="1A1430"/>
          </a:solidFill>
          <a:ln w="12700">
            <a:solidFill>
              <a:srgbClr val="F40F57">
                <a:alpha val="30000"/>
              </a:srgbClr>
            </a:solidFill>
            <a:prstDash val="solid"/>
          </a:ln>
          <a:effectLst>
            <a:outerShdw sx="100000" sy="100000" kx="0" ky="0" algn="bl" rotWithShape="0" blurRad="19050" dist="50800" dir="2700000">
              <a:srgbClr val="000000">
                <a:alpha val="2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234440" y="5230368"/>
            <a:ext cx="9646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Совместный просмотр повышает вовлеченность пользователей и делает платформу более живой.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58368" y="6446520"/>
            <a:ext cx="10881360" cy="0"/>
          </a:xfrm>
          <a:prstGeom prst="line">
            <a:avLst/>
          </a:prstGeom>
          <a:noFill/>
          <a:ln w="635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653796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F789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MoviePlatform · Совместный просмотр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10972800" y="653796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789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9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12"/>
          </a:solidFill>
          <a:ln w="12700">
            <a:solidFill>
              <a:srgbClr val="07071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-1005840"/>
            <a:ext cx="4114800" cy="4114800"/>
          </a:xfrm>
          <a:prstGeom prst="ellipse">
            <a:avLst/>
          </a:prstGeom>
          <a:solidFill>
            <a:srgbClr val="6E39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434840"/>
            <a:ext cx="4023360" cy="4023360"/>
          </a:xfrm>
          <a:prstGeom prst="ellipse">
            <a:avLst/>
          </a:prstGeom>
          <a:solidFill>
            <a:srgbClr val="F40F57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51960" y="5989320"/>
            <a:ext cx="4389120" cy="1645920"/>
          </a:xfrm>
          <a:prstGeom prst="ellipse">
            <a:avLst/>
          </a:prstGeom>
          <a:solidFill>
            <a:srgbClr val="B43D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0F57">
              <a:alpha val="60000"/>
            </a:srgbClr>
          </a:solidFill>
          <a:ln w="12700">
            <a:solidFill>
              <a:srgbClr val="F40F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0" y="786384"/>
            <a:ext cx="4572000" cy="4572000"/>
          </a:xfrm>
          <a:prstGeom prst="ellipse">
            <a:avLst/>
          </a:prstGeom>
          <a:solidFill>
            <a:srgbClr val="6E39FF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155448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MoviePlatform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0" y="2304288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6F4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Совместный просмотр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103120" y="3154680"/>
            <a:ext cx="8001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B7B0C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Смотрите вместе. Общайтесь. Выбирайте следующий контент.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937760" y="4096512"/>
            <a:ext cx="2331720" cy="402336"/>
          </a:xfrm>
          <a:prstGeom prst="roundRect">
            <a:avLst>
              <a:gd name="adj" fmla="val 22727"/>
            </a:avLst>
          </a:prstGeom>
          <a:solidFill>
            <a:srgbClr val="F40F57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10912" y="4160520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ГОТОВО К ДЕМОНСТРАЦИИ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0" y="6355080"/>
            <a:ext cx="121916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7F789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Product Presentation · 2026</a:t>
            </a:r>
            <a:endParaRPr lang="en-US" sz="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MoviePlatform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MoviePlatform - Совместный просмотр</dc:title>
  <dc:subject>MoviePlatform - Совместный просмотр</dc:subject>
  <dc:creator>OpenAI</dc:creator>
  <cp:lastModifiedBy>OpenAI</cp:lastModifiedBy>
  <cp:revision>1</cp:revision>
  <dcterms:created xsi:type="dcterms:W3CDTF">2026-08-05T12:11:39Z</dcterms:created>
  <dcterms:modified xsi:type="dcterms:W3CDTF">2026-08-05T12:11:39Z</dcterms:modified>
</cp:coreProperties>
</file>